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325" r:id="rId3"/>
    <p:sldId id="326" r:id="rId4"/>
    <p:sldId id="327" r:id="rId5"/>
    <p:sldId id="328" r:id="rId6"/>
    <p:sldId id="329" r:id="rId7"/>
    <p:sldId id="336" r:id="rId8"/>
    <p:sldId id="330" r:id="rId9"/>
    <p:sldId id="335" r:id="rId10"/>
    <p:sldId id="337" r:id="rId11"/>
    <p:sldId id="338" r:id="rId12"/>
    <p:sldId id="333" r:id="rId13"/>
    <p:sldId id="334" r:id="rId14"/>
    <p:sldId id="339" r:id="rId15"/>
    <p:sldId id="324" r:id="rId16"/>
  </p:sldIdLst>
  <p:sldSz cx="12192000" cy="6858000"/>
  <p:notesSz cx="6858000" cy="12192000"/>
  <p:embeddedFontLst>
    <p:embeddedFont>
      <p:font typeface="Aharoni" panose="02010803020104030203" pitchFamily="2" charset="-79"/>
      <p:bold r:id="rId18"/>
    </p:embeddedFont>
    <p:embeddedFont>
      <p:font typeface="Arial Rounded MT Bold" panose="020F0704030504030204" pitchFamily="34" charset="0"/>
      <p:regular r:id="rId19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2F484E2-D13C-4198-809A-BEC5E46278DC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63" autoAdjust="0"/>
    <p:restoredTop sz="95033" autoAdjust="0"/>
  </p:normalViewPr>
  <p:slideViewPr>
    <p:cSldViewPr>
      <p:cViewPr varScale="1">
        <p:scale>
          <a:sx n="82" d="100"/>
          <a:sy n="82" d="100"/>
        </p:scale>
        <p:origin x="91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185095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947988" y="2032000"/>
            <a:ext cx="9753601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5763" y="7823200"/>
            <a:ext cx="30861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85095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13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0F4214F-3E4E-4B8B-8AC2-BF59D50B2C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51726E1F-6EA3-4E9A-A4AD-BBBB2D6C8BC5}" type="datetime1">
              <a:rPr lang="en-US" smtClean="0"/>
              <a:t>9/22/2026</a:t>
            </a:fld>
            <a:endParaRPr lang="en-US" dirty="0"/>
          </a:p>
        </p:txBody>
      </p:sp>
    </p:spTree>
    <p:extLst>
      <p:ext uri="{7D129387-9967-4C73-939D-69EF041DFD9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094AC60B-DFEB-4816-B2E0-70252CAFF9C5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pic>
        <p:nvPicPr>
          <p:cNvPr id="5" name="Picture 2">
            <a:extLst>
              <a:ext uri="{DAD87817-DB1B-4DE8-BD41-41BB3E99A7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t>‹#›</a:t>
            </a:fld>
            <a:endParaRPr lang="en-US" dirty="0"/>
          </a:p>
        </p:txBody>
      </p:sp>
    </p:spTree>
    <p:extLst>
      <p:ext uri="{E791D5F0-FCE4-45B8-828D-F7D7E855498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72D759D-8BA6-4207-A007-8B59E384AAD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3">
            <a:extLst>
              <a:ext uri="{A59E037D-D639-4F65-9477-94A0EBCDC4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t>‹#›</a:t>
            </a:fld>
            <a:endParaRPr lang="en-US" dirty="0"/>
          </a:p>
        </p:txBody>
      </p:sp>
    </p:spTree>
    <p:extLst>
      <p:ext uri="{917857EF-1D39-4225-A829-037EB1D2793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66E40-8E80-4363-BA2E-420540A13AA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5F2950A-B1CB-4727-AB58-367C2C82CE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73A155-D39B-4A4B-8D04-AEDF7C7451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635022-F8A5-4229-B18F-290C3D3C64FB}"/>
              </a:ext>
            </a:extLst>
          </p:cNvPr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4000" dirty="0">
              <a:solidFill>
                <a:srgbClr val="00B050"/>
              </a:solidFill>
              <a:latin typeface="Arial Rounded MT Bold"/>
            </a:endParaRPr>
          </a:p>
        </p:txBody>
      </p:sp>
      <p:sp>
        <p:nvSpPr>
          <p:cNvPr id="3" name="Title 1">
            <a:extLst>
              <a:ext uri="{64856C8F-7DB4-4507-9010-97CF4AE55C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140DA9-F832-465D-86DE-FEB6803F3756}"/>
              </a:ext>
            </a:extLst>
          </p:cNvPr>
          <p:cNvSpPr txBox="1"/>
          <p:nvPr/>
        </p:nvSpPr>
        <p:spPr>
          <a:xfrm>
            <a:off x="152400" y="1936864"/>
            <a:ext cx="10696612" cy="14124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b="1" dirty="0">
                <a:solidFill>
                  <a:srgbClr val="0000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</a:t>
            </a:r>
            <a:r>
              <a:rPr lang="en-GB" sz="40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VEHICLE PARKING SYSTEM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IN" sz="2800" b="1" u="sng" dirty="0">
              <a:solidFill>
                <a:srgbClr val="C00000"/>
              </a:solidFill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2800" b="1" u="sng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2A8C70-3A77-94EC-FC3D-FDF5B598157E}"/>
              </a:ext>
              <a:ext uri="{20663F85-F48B-43E1-96BA-3B1BE53937F7}">
                <a16:creationId xmlns:lc="http://schemas.openxmlformats.org/drawingml/2006/lockedCanvas"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082DE41-6288-42A5-A437-B3C890B5FD67}"/>
              </a:ext>
            </a:extLst>
          </p:cNvPr>
          <p:cNvSpPr txBox="1"/>
          <p:nvPr/>
        </p:nvSpPr>
        <p:spPr>
          <a:xfrm>
            <a:off x="838200" y="3146597"/>
            <a:ext cx="10696612" cy="20702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lvl="0" algn="l" rtl="0">
              <a:defRPr lang="en-US" sz="1800" dirty="0">
                <a:solidFill>
                  <a:schemeClr val="tx1"/>
                </a:solidFill>
                <a:latin typeface="+mn-lt"/>
              </a:defRPr>
            </a:lvl1pPr>
            <a:lvl2pPr marL="457200" lvl="1" algn="l" rtl="0">
              <a:defRPr lang="en-US" sz="1800" dirty="0">
                <a:solidFill>
                  <a:schemeClr val="tx1"/>
                </a:solidFill>
                <a:latin typeface="+mn-lt"/>
              </a:defRPr>
            </a:lvl2pPr>
            <a:lvl3pPr marL="914400" lvl="2" algn="l" rtl="0">
              <a:defRPr lang="en-US" sz="1800" dirty="0">
                <a:solidFill>
                  <a:schemeClr val="tx1"/>
                </a:solidFill>
                <a:latin typeface="+mn-lt"/>
              </a:defRPr>
            </a:lvl3pPr>
            <a:lvl4pPr marL="1371600" lvl="3" algn="l" rtl="0">
              <a:defRPr lang="en-US" sz="1800" dirty="0">
                <a:solidFill>
                  <a:schemeClr val="tx1"/>
                </a:solidFill>
                <a:latin typeface="+mn-lt"/>
              </a:defRPr>
            </a:lvl4pPr>
            <a:lvl5pPr marL="1828800" lvl="4" algn="l" rtl="0">
              <a:defRPr lang="en-US" sz="1800" dirty="0">
                <a:solidFill>
                  <a:schemeClr val="tx1"/>
                </a:solidFill>
                <a:latin typeface="+mn-lt"/>
              </a:defRPr>
            </a:lvl5pPr>
            <a:lvl6pPr marL="2286000" lvl="5" algn="l" rtl="0">
              <a:defRPr lang="en-US" sz="1800" dirty="0">
                <a:solidFill>
                  <a:schemeClr val="tx1"/>
                </a:solidFill>
                <a:latin typeface="+mn-lt"/>
              </a:defRPr>
            </a:lvl6pPr>
            <a:lvl7pPr marL="2743200" lvl="6" algn="l" rtl="0">
              <a:defRPr lang="en-US" sz="1800" dirty="0">
                <a:solidFill>
                  <a:schemeClr val="tx1"/>
                </a:solidFill>
                <a:latin typeface="+mn-lt"/>
              </a:defRPr>
            </a:lvl7pPr>
            <a:lvl8pPr marL="3200400" lvl="7" algn="l" rtl="0">
              <a:defRPr lang="en-US" sz="1800" dirty="0">
                <a:solidFill>
                  <a:schemeClr val="tx1"/>
                </a:solidFill>
                <a:latin typeface="+mn-lt"/>
              </a:defRPr>
            </a:lvl8pPr>
            <a:lvl9pPr marL="3657600" lvl="8" algn="l" rtl="0">
              <a:defRPr lang="en-US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endParaRPr 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F159A1-205A-9A84-5F29-BAC09BFFE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312791"/>
              </p:ext>
            </p:extLst>
          </p:nvPr>
        </p:nvGraphicFramePr>
        <p:xfrm>
          <a:off x="6395120" y="4419600"/>
          <a:ext cx="4468388" cy="12255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46934">
                  <a:extLst>
                    <a:ext uri="{9D8B030D-6E8A-4147-A177-3AD203B41FA5}">
                      <a16:colId xmlns:a16="http://schemas.microsoft.com/office/drawing/2014/main" val="4008646060"/>
                    </a:ext>
                  </a:extLst>
                </a:gridCol>
                <a:gridCol w="2621454">
                  <a:extLst>
                    <a:ext uri="{9D8B030D-6E8A-4147-A177-3AD203B41FA5}">
                      <a16:colId xmlns:a16="http://schemas.microsoft.com/office/drawing/2014/main" val="4177372121"/>
                    </a:ext>
                  </a:extLst>
                </a:gridCol>
              </a:tblGrid>
              <a:tr h="138404">
                <a:tc>
                  <a:txBody>
                    <a:bodyPr/>
                    <a:lstStyle/>
                    <a:p>
                      <a:pPr algn="l"/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/>
                      <a:endParaRPr sz="1400" b="0" dirty="0">
                        <a:solidFill>
                          <a:srgbClr val="2D2D2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402992021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/>
                      <a:endParaRPr sz="1400" b="0" dirty="0">
                        <a:solidFill>
                          <a:srgbClr val="2D2D2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06036155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/>
                      <a:endParaRPr sz="1400" b="0" dirty="0">
                        <a:solidFill>
                          <a:srgbClr val="2D2D2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25140914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/>
                      <a:endParaRPr lang="en-IN" sz="1400" b="0" dirty="0">
                        <a:solidFill>
                          <a:srgbClr val="2D2D2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8461126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92840" y="5897880"/>
            <a:ext cx="320040" cy="228600"/>
          </a:xfrm>
          <a:prstGeom prst="rect">
            <a:avLst/>
          </a:prstGeom>
          <a:noFill/>
        </p:spPr>
        <p:txBody>
          <a:bodyPr wrap="none" lIns="76200" tIns="38100" rIns="76200" bIns="38100">
            <a:spAutoFit/>
          </a:bodyPr>
          <a:lstStyle/>
          <a:p>
            <a:pPr algn="r"/>
            <a:r>
              <a:rPr sz="1000" b="0">
                <a:solidFill>
                  <a:srgbClr val="6E6E6E"/>
                </a:solidFill>
                <a:latin typeface="Aptos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A45AD-C86A-BF03-0AF1-E344FA8EFE60}"/>
              </a:ext>
            </a:extLst>
          </p:cNvPr>
          <p:cNvSpPr txBox="1"/>
          <p:nvPr/>
        </p:nvSpPr>
        <p:spPr>
          <a:xfrm>
            <a:off x="762000" y="3886200"/>
            <a:ext cx="4267200" cy="176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INSTRUCTOR:-                            </a:t>
            </a: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V.Appalakonda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	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endParaRPr 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AIML DEPARTMENT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966C0-17D8-F794-0FFA-ABA7D88A8776}"/>
              </a:ext>
            </a:extLst>
          </p:cNvPr>
          <p:cNvSpPr txBox="1"/>
          <p:nvPr/>
        </p:nvSpPr>
        <p:spPr>
          <a:xfrm>
            <a:off x="6494252" y="3508691"/>
            <a:ext cx="5943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endParaRPr 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</a:p>
          <a:p>
            <a:pPr fontAlgn="ctr"/>
            <a:endParaRPr 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25B11AI006-ACHANTA MANI KRISHNAN</a:t>
            </a:r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25B11AI883-PALIVELA SASANK</a:t>
            </a:r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25B11AI172-UDAYAGIRI SUPRAJA</a:t>
            </a:r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I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25B11AIC24-UNNAM NAGARJUNA</a:t>
            </a:r>
          </a:p>
          <a:p>
            <a:pPr fontAlgn="ctr"/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30E1E3-27D0-00BF-59A3-381415A7A7A0}"/>
              </a:ext>
            </a:extLst>
          </p:cNvPr>
          <p:cNvSpPr txBox="1"/>
          <p:nvPr/>
        </p:nvSpPr>
        <p:spPr>
          <a:xfrm>
            <a:off x="4876800" y="2755005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REVIEW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C4CEC1-2A27-960D-5AAB-7FC0C5FCE25F}"/>
              </a:ext>
            </a:extLst>
          </p:cNvPr>
          <p:cNvSpPr txBox="1"/>
          <p:nvPr/>
        </p:nvSpPr>
        <p:spPr>
          <a:xfrm>
            <a:off x="4672783" y="3103250"/>
            <a:ext cx="218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NUMBER-19</a:t>
            </a:r>
          </a:p>
        </p:txBody>
      </p:sp>
    </p:spTree>
    <p:extLst>
      <p:ext uri="{59DB2955-81A9-4330-9517-4CB607EFC6F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624514" y="459744"/>
            <a:ext cx="5223386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621280"/>
            <a:ext cx="384048" cy="384048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7" y="1072103"/>
            <a:ext cx="103327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 dirty="0">
                <a:solidFill>
                  <a:srgbClr val="5A6976"/>
                </a:solidFill>
                <a:latin typeface="Calibri"/>
              </a:rPr>
              <a:t>Project overview and presentation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1706880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7280" y="1834896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1780032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Project Abstract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2081784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What the system does and why it is useful.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2456688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2584704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2529840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Problem &amp;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2831592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Current parking issues and project goals.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3206496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97280" y="3334512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8488" y="3279648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Planned Modules / Functions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3581400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Core modules that implement the system.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3956303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97280" y="4084319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8488" y="4029456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Users of the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8488" y="4331208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Primary and administrative users.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" y="4706112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97280" y="4834128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4779264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Inputs &amp; Outputs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8488" y="5081016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Information entered and generated.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5468111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7280" y="5596127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18488" y="5541263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Class / OOP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8488" y="5843016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Classes and OOP principles used.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6207" y="2494446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373368" y="2590800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94575" y="2604284"/>
            <a:ext cx="958917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F3A5F"/>
                </a:solidFill>
                <a:latin typeface="Calibri"/>
              </a:rPr>
              <a:t>Limitations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8480" y="2868451"/>
            <a:ext cx="1792478" cy="2414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 dirty="0">
                <a:solidFill>
                  <a:srgbClr val="2D3741"/>
                </a:solidFill>
                <a:latin typeface="Calibri"/>
              </a:rPr>
              <a:t>Main Drawbac</a:t>
            </a:r>
            <a:r>
              <a:rPr sz="969" dirty="0">
                <a:solidFill>
                  <a:srgbClr val="2D3741"/>
                </a:solidFill>
                <a:latin typeface="Calibri"/>
              </a:rPr>
              <a:t>ks of this project.</a:t>
            </a:r>
            <a:endParaRPr sz="969" b="0" dirty="0">
              <a:solidFill>
                <a:srgbClr val="2D3741"/>
              </a:solidFill>
              <a:latin typeface="Calibri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236207" y="1746504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373368" y="1828800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94575" y="1856342"/>
            <a:ext cx="98456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1F3A5F"/>
                </a:solidFill>
                <a:latin typeface="Calibri"/>
              </a:rPr>
              <a:t>ER Diagram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8480" y="2124613"/>
            <a:ext cx="4206240" cy="2414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0" dirty="0">
                <a:solidFill>
                  <a:srgbClr val="2D3741"/>
                </a:solidFill>
                <a:latin typeface="Calibri"/>
              </a:rPr>
              <a:t>Relationships among the main classes.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36207" y="3212591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373368" y="3305106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94575" y="3322430"/>
            <a:ext cx="1699504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F3A5F"/>
                </a:solidFill>
                <a:latin typeface="Calibri"/>
              </a:rPr>
              <a:t>Future Enhancements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88480" y="3622205"/>
            <a:ext cx="3448380" cy="2414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dirty="0">
                <a:solidFill>
                  <a:srgbClr val="2D3741"/>
                </a:solidFill>
                <a:latin typeface="Calibri"/>
              </a:rPr>
              <a:t>The improvements of the system that can be done in the future</a:t>
            </a:r>
            <a:r>
              <a:rPr sz="969" b="0" dirty="0">
                <a:solidFill>
                  <a:srgbClr val="2D3741"/>
                </a:solidFill>
                <a:latin typeface="Calibri"/>
              </a:rPr>
              <a:t>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48400" y="4720553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391857" y="4848569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6768" y="4839425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F3A5F"/>
                </a:solidFill>
                <a:latin typeface="Calibri"/>
              </a:rPr>
              <a:t>Role of Each Individual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0673" y="5081016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 dirty="0">
                <a:solidFill>
                  <a:srgbClr val="2D3741"/>
                </a:solidFill>
                <a:latin typeface="Calibri"/>
              </a:rPr>
              <a:t>Team responsibilities for implementation.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F37A76-86A0-AF8E-76A0-31563F6E7EA5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B2E58964-C400-4F14-BDC9-401074DB83E5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668A6-89BE-0245-67E3-E7CD8F5BBC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Rounded Rectangle 51">
            <a:extLst>
              <a:ext uri="{FF2B5EF4-FFF2-40B4-BE49-F238E27FC236}">
                <a16:creationId xmlns:a16="http://schemas.microsoft.com/office/drawing/2014/main" id="{26E40FBC-C7AD-29D7-B19C-395D3BD4BDE7}"/>
              </a:ext>
            </a:extLst>
          </p:cNvPr>
          <p:cNvSpPr/>
          <p:nvPr/>
        </p:nvSpPr>
        <p:spPr>
          <a:xfrm>
            <a:off x="6248400" y="3953256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335FDC-AFD8-E1E4-019A-19B96B67A376}"/>
              </a:ext>
            </a:extLst>
          </p:cNvPr>
          <p:cNvSpPr/>
          <p:nvPr/>
        </p:nvSpPr>
        <p:spPr>
          <a:xfrm>
            <a:off x="6385561" y="4045771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C2CC4-6967-6EEB-F32A-7BD6993F17B3}"/>
              </a:ext>
            </a:extLst>
          </p:cNvPr>
          <p:cNvSpPr txBox="1"/>
          <p:nvPr/>
        </p:nvSpPr>
        <p:spPr>
          <a:xfrm>
            <a:off x="6906768" y="4072129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Planning &amp; Timeline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5FA1F5-B5D2-A037-4534-C1FEA13EFC8A}"/>
              </a:ext>
            </a:extLst>
          </p:cNvPr>
          <p:cNvSpPr txBox="1"/>
          <p:nvPr/>
        </p:nvSpPr>
        <p:spPr>
          <a:xfrm>
            <a:off x="6900673" y="4319016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 dirty="0">
                <a:solidFill>
                  <a:srgbClr val="2D3741"/>
                </a:solidFill>
                <a:latin typeface="Calibri"/>
              </a:rPr>
              <a:t>Development activities across the project weeks.</a:t>
            </a:r>
          </a:p>
        </p:txBody>
      </p:sp>
      <p:sp>
        <p:nvSpPr>
          <p:cNvPr id="48" name="Rounded Rectangle 55">
            <a:extLst>
              <a:ext uri="{FF2B5EF4-FFF2-40B4-BE49-F238E27FC236}">
                <a16:creationId xmlns:a16="http://schemas.microsoft.com/office/drawing/2014/main" id="{F73E1939-1CA6-87B9-391A-2C30B39AC997}"/>
              </a:ext>
            </a:extLst>
          </p:cNvPr>
          <p:cNvSpPr/>
          <p:nvPr/>
        </p:nvSpPr>
        <p:spPr>
          <a:xfrm>
            <a:off x="6248400" y="5482553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DB81268-249A-31C4-21E9-6FE5689DEECD}"/>
              </a:ext>
            </a:extLst>
          </p:cNvPr>
          <p:cNvSpPr/>
          <p:nvPr/>
        </p:nvSpPr>
        <p:spPr>
          <a:xfrm>
            <a:off x="6391857" y="5610569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E8F476-783F-F988-42ED-863F6A5A923C}"/>
              </a:ext>
            </a:extLst>
          </p:cNvPr>
          <p:cNvSpPr txBox="1"/>
          <p:nvPr/>
        </p:nvSpPr>
        <p:spPr>
          <a:xfrm>
            <a:off x="6906768" y="5592391"/>
            <a:ext cx="941283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F3A5F"/>
                </a:solidFill>
                <a:latin typeface="Calibri"/>
              </a:rPr>
              <a:t>Conclusion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C6EF50-40AD-FC54-5AEB-8FE7A72ABDE3}"/>
              </a:ext>
            </a:extLst>
          </p:cNvPr>
          <p:cNvSpPr txBox="1"/>
          <p:nvPr/>
        </p:nvSpPr>
        <p:spPr>
          <a:xfrm>
            <a:off x="6900673" y="5886870"/>
            <a:ext cx="1672253" cy="2414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dirty="0">
                <a:solidFill>
                  <a:srgbClr val="2D3741"/>
                </a:solidFill>
                <a:latin typeface="Calibri"/>
              </a:rPr>
              <a:t>Final overview of the project.</a:t>
            </a:r>
            <a:endParaRPr sz="969" b="0" dirty="0">
              <a:solidFill>
                <a:srgbClr val="2D374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447800"/>
            <a:ext cx="10515600" cy="4343399"/>
          </a:xfrm>
        </p:spPr>
        <p:txBody>
          <a:bodyPr wrap="square">
            <a:noAutofit/>
          </a:bodyPr>
          <a:lstStyle/>
          <a:p>
            <a:pPr marL="522900" indent="-342900" algn="just">
              <a:lnSpc>
                <a:spcPct val="250000"/>
              </a:lnSpc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application designed to automate vehicle parking management.</a:t>
            </a:r>
          </a:p>
          <a:p>
            <a:pPr marL="522900" indent="-342900" algn="just">
              <a:lnSpc>
                <a:spcPct val="250000"/>
              </a:lnSpc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manual paper-based logging with structured digital records.</a:t>
            </a:r>
          </a:p>
          <a:p>
            <a:pPr marL="522900" indent="-342900" algn="just">
              <a:lnSpc>
                <a:spcPct val="250000"/>
              </a:lnSpc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vehicle entry, slot allocation, live status, search, fee calculation and receipts.</a:t>
            </a:r>
          </a:p>
          <a:p>
            <a:pPr marL="522900" indent="-342900" algn="just">
              <a:lnSpc>
                <a:spcPct val="250000"/>
              </a:lnSpc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completed parking transactions using file handling.</a:t>
            </a:r>
          </a:p>
          <a:p>
            <a:pPr marL="522900" indent="-342900" algn="just">
              <a:lnSpc>
                <a:spcPct val="250000"/>
              </a:lnSpc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OOP principles: classes, inheritance, polymorphism and encapsulation.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412299" y="444913"/>
            <a:ext cx="5223386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EAF870-9A53-22B2-4096-40AA9E4ABBCC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71C1328D-2AAF-4D7F-82B5-5094BC5BE074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37B14-6E72-AF69-D77E-F3A9BB88BE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295400"/>
            <a:ext cx="10515600" cy="4797895"/>
          </a:xfrm>
        </p:spPr>
        <p:txBody>
          <a:bodyPr>
            <a:normAutofit lnSpcReduction="10000"/>
          </a:bodyPr>
          <a:lstStyle/>
          <a:p>
            <a:pPr marL="9144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parking relies on paper logs and guesswork, causing difficulty identifying available slots, locating parked vehicles, and calculating fees accurately.</a:t>
            </a:r>
          </a:p>
          <a:p>
            <a:pPr marL="9144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914400" lvl="1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centralized system to manage vehicle entry, exit, and slot allocation.</a:t>
            </a:r>
          </a:p>
          <a:p>
            <a:pPr marL="914400" lvl="1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automatic slot assignment and live status display.</a:t>
            </a:r>
          </a:p>
          <a:p>
            <a:pPr marL="914400" lvl="1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fee-calculation errors through automated, rate-based billing.</a:t>
            </a:r>
          </a:p>
          <a:p>
            <a:pPr marL="914400" lvl="1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searchable parking history using file handling.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2133600" y="575948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DAD535-DC86-5760-F82E-4E46D5985283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97B891B-343D-4C92-85B3-3AB6A04F5B0D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17608-E93B-D84C-C244-DE2DCF1582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676400" y="547636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MODULES &amp;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673352"/>
            <a:ext cx="1601400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0000CC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Entry: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075688"/>
            <a:ext cx="45445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Records vehicle number, owner, and 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673352"/>
            <a:ext cx="201337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0000CC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Management: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075688"/>
            <a:ext cx="45445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Checks, assigns, and releases parking slots.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136392"/>
            <a:ext cx="171521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0000CC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Status: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538728"/>
            <a:ext cx="45445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Displays available and occupied slots.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136392"/>
            <a:ext cx="171521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0000CC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Search: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538728"/>
            <a:ext cx="45445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Finds a parked vehicle by number.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599432"/>
            <a:ext cx="1636666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0000CC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 &amp; Receipt: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001768"/>
            <a:ext cx="454456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Calculates charges and generates receipts.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599432"/>
            <a:ext cx="1856277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0000CC"/>
                </a:solidFill>
                <a:latin typeface="Arial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History: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001768"/>
            <a:ext cx="454456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Stores completed transactions via file handling.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D58C8-26BB-CE4B-1E73-EB44D5FCFCBE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F6E5CF0B-132C-44A4-A3A5-A09069F5FD29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97599-C465-C3EF-C872-2E29478535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OF THE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07793"/>
            <a:ext cx="2178481" cy="446276"/>
          </a:xfrm>
          <a:prstGeom prst="rect">
            <a:avLst/>
          </a:prstGeom>
          <a:noFill/>
        </p:spPr>
        <p:txBody>
          <a:bodyPr wrap="none" lIns="76200" tIns="38100" rIns="76200" bIns="38100">
            <a:spAutoFit/>
          </a:bodyPr>
          <a:lstStyle/>
          <a:p>
            <a:pPr algn="l"/>
            <a:r>
              <a:rPr sz="2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Users: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15169"/>
            <a:ext cx="8092440" cy="90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Owner — enters vehicle details and receives a slot and receipt.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Parking Attendant / Operator — manages entries, exits and daily operations.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27445"/>
            <a:ext cx="3659923" cy="446276"/>
          </a:xfrm>
          <a:prstGeom prst="rect">
            <a:avLst/>
          </a:prstGeom>
          <a:noFill/>
        </p:spPr>
        <p:txBody>
          <a:bodyPr wrap="square" lIns="76200" tIns="38100" rIns="76200" bIns="38100">
            <a:spAutoFit/>
          </a:bodyPr>
          <a:lstStyle/>
          <a:p>
            <a:r>
              <a:rPr lang="en-IN" sz="2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Users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3976933"/>
            <a:ext cx="7848600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Administrator — maintains slot data, pricing rules and records.</a:t>
            </a:r>
          </a:p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Auditor / Reviewer — checks parking history and transaction reports.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F158CC-D236-0D3F-15F0-96D1C479DF7B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F8DA286A-D0CF-4B93-86F8-96229ABBC23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C6DF6-EDE8-EA33-3CEE-D678F96D72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 &amp;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88356"/>
            <a:ext cx="950581" cy="384721"/>
          </a:xfrm>
          <a:prstGeom prst="rect">
            <a:avLst/>
          </a:prstGeom>
          <a:noFill/>
        </p:spPr>
        <p:txBody>
          <a:bodyPr wrap="none" lIns="76200" tIns="38100" rIns="76200" bIns="38100">
            <a:spAutoFit/>
          </a:bodyPr>
          <a:lstStyle/>
          <a:p>
            <a:pPr algn="l"/>
            <a:r>
              <a:rPr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2013" y="1987575"/>
            <a:ext cx="6912768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number, owner name and vehicle type at entry.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number for search or exit.</a:t>
            </a:r>
          </a:p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choice: entry, exit, search, status or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013" y="3270336"/>
            <a:ext cx="1455954" cy="384721"/>
          </a:xfrm>
          <a:prstGeom prst="rect">
            <a:avLst/>
          </a:prstGeom>
          <a:noFill/>
        </p:spPr>
        <p:txBody>
          <a:bodyPr wrap="square" lIns="76200" tIns="38100" rIns="76200" bIns="3810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16971"/>
            <a:ext cx="63398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Assigned slot number and entry confirmation.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list of available and occupied slots.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slot and status from search.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fee and receipt on exit.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Parking history saved to file.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94E9E7-E37F-3BFC-102A-C5760BF5D46A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E4F5867-BD7D-4DCF-B1C3-D87549E6FB5F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C3F053-1D35-3E20-4BE5-D6421BF9E9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9144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Parking System</a:t>
            </a:r>
            <a:r>
              <a:rPr lang="en-IN" sz="2000" b="0" dirty="0">
                <a:latin typeface="Times New Roman"/>
                <a:cs typeface="Times New Roman"/>
              </a:rPr>
              <a:t> Class - manages vehicle entry/exit, slot assignment, fee calculation, and history.</a:t>
            </a:r>
          </a:p>
          <a:p>
            <a:pPr marL="9144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Class - stores vehicle number, owner name, type, and assigned slot.</a:t>
            </a:r>
          </a:p>
          <a:p>
            <a:pPr marL="9144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Parking Slot</a:t>
            </a:r>
            <a:r>
              <a:rPr lang="en-IN" sz="2000" b="0" dirty="0">
                <a:latin typeface="Times New Roman"/>
                <a:cs typeface="Times New Roman"/>
              </a:rPr>
              <a:t> Class - tracks slot number and occupied status; assigns and releases slots</a:t>
            </a:r>
            <a:r>
              <a:rPr lang="en-IN" sz="2000" dirty="0">
                <a:latin typeface="Times New Roman"/>
                <a:cs typeface="Times New Roman"/>
              </a:rPr>
              <a:t>.</a:t>
            </a:r>
            <a:endParaRPr lang="en-IN" sz="2000" b="0" dirty="0">
              <a:latin typeface="Times New Roman"/>
              <a:cs typeface="Times New Roman"/>
            </a:endParaRPr>
          </a:p>
          <a:p>
            <a:pPr marL="9144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Bike, Car, and SUV inherit from a base Vehicle class; polymorphism applies vehicle-specific fee rates.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/ OOP DESIGN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E63C9-6446-4029-0016-7FB5A2293F55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D552D09D-DCEA-4FFC-B768-AF269A2D6CE3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77702-6C52-0FEA-A5C5-D24D339486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759414" y="197944"/>
            <a:ext cx="2911374" cy="5355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904" y="3364991"/>
            <a:ext cx="364845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ParkingSlot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486A9A-4E64-3383-F30D-EB4D18E4F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66" y="1066800"/>
            <a:ext cx="9838267" cy="521750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3AAB2-FE34-8E8C-A177-13D5CECA3E40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1506A8AE-965E-4004-A3B6-FB032AE60B4A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E2969-006B-98A8-2966-304C096DFA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</p:spTree>
    <p:extLst>
      <p:ext uri="{BB962C8B-B14F-4D97-AF65-F5344CB8AC3E}">
        <p14:creationId xmlns:p14="http://schemas.microsoft.com/office/powerpoint/2010/main" val="2026700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9CF22C-192B-8ECD-15F1-AC564FC1E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759D-8BA6-4207-A007-8B59E384AAD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415379-260D-084E-E3B2-E2416CA49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BC200-B9DB-ADB5-F207-9EC0B5408473}"/>
              </a:ext>
            </a:extLst>
          </p:cNvPr>
          <p:cNvSpPr txBox="1"/>
          <p:nvPr/>
        </p:nvSpPr>
        <p:spPr>
          <a:xfrm>
            <a:off x="695400" y="1409748"/>
            <a:ext cx="936300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version has some limitations: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currently supports only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parking slots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console-based application.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history is stored in a text file rather than a database.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graphical user interface.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online or cloud-based access.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does not include user login or authentication.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duration is entered manually during vehicle exit.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online payment facility.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does not provide real-time hardware/sensor-based slot detection.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9EA17-2BBD-6281-F3F9-75FD55309B67}"/>
              </a:ext>
            </a:extLst>
          </p:cNvPr>
          <p:cNvSpPr txBox="1"/>
          <p:nvPr/>
        </p:nvSpPr>
        <p:spPr>
          <a:xfrm>
            <a:off x="2914566" y="609600"/>
            <a:ext cx="6218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 </a:t>
            </a:r>
            <a:r>
              <a:rPr lang="en-GB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1651750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AA3A6C-689A-98ED-07DC-D1E99D97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759D-8BA6-4207-A007-8B59E384AAD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EA5D7-69A5-51C3-1584-0B0F60475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B938E-9809-1FD8-4736-260B78EB0718}"/>
              </a:ext>
            </a:extLst>
          </p:cNvPr>
          <p:cNvSpPr txBox="1"/>
          <p:nvPr/>
        </p:nvSpPr>
        <p:spPr>
          <a:xfrm>
            <a:off x="533400" y="1371600"/>
            <a:ext cx="10896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improved in the future by adding:</a:t>
            </a:r>
          </a:p>
          <a:p>
            <a:pPr>
              <a:buNone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Database Integration: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the text file with MySQL or another database reliable and scalable storage.</a:t>
            </a:r>
          </a:p>
          <a:p>
            <a:pPr>
              <a:buNone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Graphical User Interface: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GUI instead of the current console-based interface.</a:t>
            </a:r>
          </a:p>
          <a:p>
            <a:pPr>
              <a:buNone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More Parking Slots: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the administrator to dynamically configure the number of parking slots.</a:t>
            </a:r>
          </a:p>
          <a:p>
            <a:pPr>
              <a:buNone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Online Payment: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digital payment methods such as UPI, cards, and other payment services.</a:t>
            </a:r>
          </a:p>
          <a:p>
            <a:pPr>
              <a:buNone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Automatic Slot Detection: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sensors or IoT devices to detect whether parking slots are occupied.</a:t>
            </a:r>
          </a:p>
          <a:p>
            <a:pPr>
              <a:buNone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User Authentication: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login functionality for administrators and parking operators.</a:t>
            </a:r>
          </a:p>
          <a:p>
            <a:pPr>
              <a:buNone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QR Code / Digital Receipt: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QR-based digital parking ticket and receipt.</a:t>
            </a:r>
          </a:p>
          <a:p>
            <a:pPr>
              <a:buNone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Mobile/Web Application: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remote access through a web or mobile application.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408336-B4AC-6F45-AFE8-EA9C1497441E}"/>
              </a:ext>
            </a:extLst>
          </p:cNvPr>
          <p:cNvSpPr txBox="1"/>
          <p:nvPr/>
        </p:nvSpPr>
        <p:spPr>
          <a:xfrm>
            <a:off x="2743200" y="533400"/>
            <a:ext cx="70959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UTURE ENHANCEMENTS</a:t>
            </a:r>
            <a:endParaRPr lang="en-GB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316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2044491" y="511786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TIMELINE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6948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1977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7005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2034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7062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2091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28800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883664"/>
            <a:ext cx="1045028" cy="38404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2395728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(Class Diagram)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6948" y="2450592"/>
            <a:ext cx="2090057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2962656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&amp; Module Development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1977" y="3017520"/>
            <a:ext cx="3135085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3529584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Testing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7062" y="3584448"/>
            <a:ext cx="1567542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4096512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Final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11097" y="4151376"/>
            <a:ext cx="1045028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5B16CB-5928-AE79-8DEE-473E304AC711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32C05E18-D4DA-4819-9844-E1FF8A43FB75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5F217-0F79-61AD-5546-1018925EB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59028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EACH INDIVIDUAL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234924"/>
              </p:ext>
            </p:extLst>
          </p:nvPr>
        </p:nvGraphicFramePr>
        <p:xfrm>
          <a:off x="1314832" y="1981200"/>
          <a:ext cx="94183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Responsibility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25B11AI006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solidFill>
                            <a:srgbClr val="2D2D2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ACHANTA MANI KRISHNAN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design, Event &amp; Registration modules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25B11AI883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2D2D2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PALIVELA SASANK</a:t>
                      </a:r>
                      <a:endParaRPr lang="en-IN" sz="1600" b="0" dirty="0">
                        <a:solidFill>
                          <a:srgbClr val="2D2D2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 – core modules &amp; file handling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25B11AI172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2D2D2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UDAYAGIRI SUPRAJA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Testing, debugging &amp; report generation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25B11AIC24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2D2D2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UNNAM NAGARJUNA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design, documentation &amp; presentation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850CB-3C1A-5620-F70E-BD1991799D7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DF7F088B-E902-42D7-A75F-3BC193FCB2F3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FF3CF-889F-4359-0EDC-ED7E415BF4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E8B3FC-2EC9-C184-7408-58C7561C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759D-8BA6-4207-A007-8B59E384AADB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77ABA-A193-3213-CFFE-B51C3B1C6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960D9B-B8A1-B626-BAAA-7E7D265AC248}"/>
              </a:ext>
            </a:extLst>
          </p:cNvPr>
          <p:cNvSpPr txBox="1"/>
          <p:nvPr/>
        </p:nvSpPr>
        <p:spPr>
          <a:xfrm>
            <a:off x="689992" y="1676400"/>
            <a:ext cx="10668000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Vehicle Parking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simple and structured solution for managing vehicle parking using C++. It automates important activities such as vehicle entry, slot allocation, parking-status monitoring, vehicle search, vehicle exit, fee calculation, receipt generation, and parking-history storage. The project also demonstrates practical implementation of OOP concepts including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abstraction, encapsulation, inheritance, and polymorphism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provides a foundation that can later be extended with databases, graphical interfaces, online payments, IoT-based slot detection, and web/mobile access.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33120-606C-F189-1EB2-3BCAD405268C}"/>
              </a:ext>
            </a:extLst>
          </p:cNvPr>
          <p:cNvSpPr txBox="1"/>
          <p:nvPr/>
        </p:nvSpPr>
        <p:spPr>
          <a:xfrm>
            <a:off x="4419600" y="381000"/>
            <a:ext cx="3352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GB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447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A2974D-1CE7-ADEF-CAF2-8E40A4E9ACE3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0" y="868680"/>
            <a:ext cx="9692640" cy="461772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1CD0E8-1848-FBFA-2297-E76DE859683A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49ABA43A-3AA5-45A2-AB31-01972B023720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8A847-E997-9744-D0CE-76289038D7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REVIEW-2</a:t>
            </a:r>
          </a:p>
        </p:txBody>
      </p:sp>
    </p:spTree>
    <p:extLst>
      <p:ext uri="{BB962C8B-B14F-4D97-AF65-F5344CB8AC3E}">
        <p14:creationId xmlns:p14="http://schemas.microsoft.com/office/powerpoint/2010/main" val="145396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</TotalTime>
  <Words>1207</Words>
  <Application>Microsoft Office PowerPoint</Application>
  <PresentationFormat>Widescreen</PresentationFormat>
  <Paragraphs>199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Calibri</vt:lpstr>
      <vt:lpstr>Calibri Light</vt:lpstr>
      <vt:lpstr>Times New Roman</vt:lpstr>
      <vt:lpstr>Arial Rounded MT Bold</vt:lpstr>
      <vt:lpstr>Aharoni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Manikrishnan Achanta</dc:creator>
  <cp:lastModifiedBy>Palivela Sasank</cp:lastModifiedBy>
  <cp:revision>116</cp:revision>
  <cp:lastPrinted>2025-09-02T05:24:44Z</cp:lastPrinted>
  <dcterms:created xsi:type="dcterms:W3CDTF">2025-05-29T13:02:32Z</dcterms:created>
  <dcterms:modified xsi:type="dcterms:W3CDTF">2026-09-23T05:50:13Z</dcterms:modified>
</cp:coreProperties>
</file>